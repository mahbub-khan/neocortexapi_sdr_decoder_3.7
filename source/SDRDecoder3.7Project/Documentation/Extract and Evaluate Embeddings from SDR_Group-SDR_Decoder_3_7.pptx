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2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8" r:id="rId3"/>
    <p:sldId id="259" r:id="rId4"/>
    <p:sldId id="272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0" r:id="rId17"/>
    <p:sldId id="274" r:id="rId18"/>
    <p:sldId id="275" r:id="rId19"/>
    <p:sldId id="277" r:id="rId20"/>
    <p:sldId id="276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BE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7" autoAdjust="0"/>
    <p:restoredTop sz="94660"/>
  </p:normalViewPr>
  <p:slideViewPr>
    <p:cSldViewPr snapToGrid="0">
      <p:cViewPr varScale="1">
        <p:scale>
          <a:sx n="73" d="100"/>
          <a:sy n="73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FF8647-DECE-43F8-9453-35D669491D16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1726E-6EA2-4DA1-9238-097150028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680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77BC9-E876-4BC6-9956-9875AD12F02E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DB7AA-1EB6-47FC-8AA5-685E4A424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798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8623-BB2C-4582-98DA-BDA74E119795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50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262A-976B-45EE-8240-645B0CB09A6B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2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6ACC3-E9F4-4AC0-93F1-EF21E4B0D9E4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2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FE2-1EF5-40F5-9DA6-79CFE8146E24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80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92FE9-8535-4043-9DB2-E8D31A45D60B}" type="datetime1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899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251B-9FE7-462A-A595-249648693907}" type="datetime1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1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C9519-69FB-453F-AAAF-AB1287CD37F5}" type="datetime1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5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E69A0B-24D1-4A6C-8E48-74E028A2A024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9B430B-044A-4F01-892B-B3C7D1FF4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12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A739-E790-49FE-AA1B-89609F667D91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2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70E4-3E24-4B34-9A2B-4E2978C9E31A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5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5D62-DF7B-4CDF-A2DC-C545097BD3C0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7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E51760-A82C-4EFD-92AD-B6317ED7E35A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E9B430B-044A-4F01-892B-B3C7D1FF43B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0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3" r:id="rId1"/>
    <p:sldLayoutId id="2147484234" r:id="rId2"/>
    <p:sldLayoutId id="2147484235" r:id="rId3"/>
    <p:sldLayoutId id="2147484236" r:id="rId4"/>
    <p:sldLayoutId id="2147484237" r:id="rId5"/>
    <p:sldLayoutId id="2147484238" r:id="rId6"/>
    <p:sldLayoutId id="2147484239" r:id="rId7"/>
    <p:sldLayoutId id="2147484240" r:id="rId8"/>
    <p:sldLayoutId id="2147484241" r:id="rId9"/>
    <p:sldLayoutId id="2147484242" r:id="rId10"/>
    <p:sldLayoutId id="21474842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949783"/>
            <a:ext cx="10058400" cy="1616342"/>
          </a:xfrm>
        </p:spPr>
        <p:txBody>
          <a:bodyPr anchor="t">
            <a:normAutofit/>
          </a:bodyPr>
          <a:lstStyle/>
          <a:p>
            <a:pPr algn="ctr"/>
            <a:r>
              <a:rPr lang="en-US" sz="4800" b="1" i="1" dirty="0"/>
              <a:t>ML 24/25-07 Extract and Evaluate </a:t>
            </a:r>
            <a:r>
              <a:rPr lang="en-US" sz="4800" b="1" i="1" dirty="0" err="1"/>
              <a:t>Embeddings</a:t>
            </a:r>
            <a:r>
              <a:rPr lang="en-US" sz="4800" b="1" i="1" dirty="0"/>
              <a:t> from SDR</a:t>
            </a:r>
            <a:endParaRPr lang="en-US"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4938" y="2375294"/>
            <a:ext cx="9910915" cy="870155"/>
          </a:xfrm>
        </p:spPr>
        <p:txBody>
          <a:bodyPr>
            <a:normAutofit/>
          </a:bodyPr>
          <a:lstStyle/>
          <a:p>
            <a:pPr algn="ctr"/>
            <a:r>
              <a:rPr lang="en-US" sz="2000" cap="none" dirty="0" smtClean="0">
                <a:solidFill>
                  <a:schemeClr val="tx1"/>
                </a:solidFill>
              </a:rPr>
              <a:t>Information Technology Course Module- </a:t>
            </a:r>
            <a:r>
              <a:rPr lang="en-US" sz="2000" b="1" cap="none" dirty="0" smtClean="0">
                <a:solidFill>
                  <a:schemeClr val="tx1"/>
                </a:solidFill>
              </a:rPr>
              <a:t>SOFTWARE ENGINEERING</a:t>
            </a:r>
          </a:p>
          <a:p>
            <a:pPr algn="ctr"/>
            <a:r>
              <a:rPr lang="en-US" sz="2000" cap="none" dirty="0" smtClean="0">
                <a:solidFill>
                  <a:schemeClr val="tx1"/>
                </a:solidFill>
              </a:rPr>
              <a:t>By </a:t>
            </a:r>
            <a:r>
              <a:rPr lang="en-US" sz="2000" b="1" i="1" cap="none" dirty="0" err="1" smtClean="0">
                <a:solidFill>
                  <a:schemeClr val="tx1"/>
                </a:solidFill>
              </a:rPr>
              <a:t>Damir</a:t>
            </a:r>
            <a:r>
              <a:rPr lang="en-US" sz="2000" b="1" i="1" cap="none" dirty="0" smtClean="0">
                <a:solidFill>
                  <a:schemeClr val="tx1"/>
                </a:solidFill>
              </a:rPr>
              <a:t> </a:t>
            </a:r>
            <a:r>
              <a:rPr lang="en-US" sz="2000" b="1" i="1" cap="none" dirty="0" err="1" smtClean="0">
                <a:solidFill>
                  <a:schemeClr val="tx1"/>
                </a:solidFill>
              </a:rPr>
              <a:t>Dobric</a:t>
            </a:r>
            <a:r>
              <a:rPr lang="en-US" sz="2000" b="1" i="1" cap="none" dirty="0" smtClean="0">
                <a:solidFill>
                  <a:schemeClr val="tx1"/>
                </a:solidFill>
              </a:rPr>
              <a:t> / Andreas </a:t>
            </a:r>
            <a:r>
              <a:rPr lang="en-US" sz="2000" b="1" i="1" cap="none" dirty="0" err="1" smtClean="0">
                <a:solidFill>
                  <a:schemeClr val="tx1"/>
                </a:solidFill>
              </a:rPr>
              <a:t>Pech</a:t>
            </a:r>
            <a:endParaRPr lang="en-US" sz="2000" b="1" i="1" cap="none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109361" y="3542752"/>
            <a:ext cx="6268065" cy="1754254"/>
          </a:xfrm>
          <a:prstGeom prst="rect">
            <a:avLst/>
          </a:prstGeom>
          <a:solidFill>
            <a:srgbClr val="BEBEC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u="sng" cap="none" dirty="0" smtClean="0"/>
              <a:t>Group </a:t>
            </a:r>
            <a:r>
              <a:rPr lang="en-US" sz="2000" cap="none" dirty="0" smtClean="0"/>
              <a:t>: SDR_Decoder_3.7</a:t>
            </a:r>
          </a:p>
          <a:p>
            <a:pPr algn="just"/>
            <a:r>
              <a:rPr lang="en-US" sz="2000" cap="none" dirty="0" smtClean="0"/>
              <a:t>Amina </a:t>
            </a:r>
            <a:r>
              <a:rPr lang="en-US" sz="2000" cap="none" dirty="0" err="1" smtClean="0"/>
              <a:t>Aktar</a:t>
            </a:r>
            <a:r>
              <a:rPr lang="en-US" sz="2000" cap="none" dirty="0" smtClean="0"/>
              <a:t> Rubi</a:t>
            </a:r>
          </a:p>
          <a:p>
            <a:pPr algn="just"/>
            <a:r>
              <a:rPr lang="en-US" sz="2000" cap="none" dirty="0" smtClean="0"/>
              <a:t>Al Amin </a:t>
            </a:r>
            <a:r>
              <a:rPr lang="en-US" sz="2000" cap="none" dirty="0" err="1" smtClean="0"/>
              <a:t>Ul</a:t>
            </a:r>
            <a:r>
              <a:rPr lang="en-US" sz="2000" cap="none" dirty="0" smtClean="0"/>
              <a:t> Islam</a:t>
            </a:r>
          </a:p>
          <a:p>
            <a:pPr algn="just"/>
            <a:r>
              <a:rPr lang="en-US" sz="2000" cap="none" dirty="0" err="1" smtClean="0"/>
              <a:t>Md</a:t>
            </a:r>
            <a:r>
              <a:rPr lang="en-US" sz="2000" cap="none" dirty="0" smtClean="0"/>
              <a:t> </a:t>
            </a:r>
            <a:r>
              <a:rPr lang="en-US" sz="2000" cap="none" dirty="0" err="1" smtClean="0"/>
              <a:t>Mahbub</a:t>
            </a:r>
            <a:r>
              <a:rPr lang="en-US" sz="2000" cap="none" dirty="0" smtClean="0"/>
              <a:t> Rashid Khan</a:t>
            </a:r>
            <a:endParaRPr lang="en-US" sz="2000" cap="none" dirty="0"/>
          </a:p>
        </p:txBody>
      </p:sp>
    </p:spTree>
    <p:extLst>
      <p:ext uri="{BB962C8B-B14F-4D97-AF65-F5344CB8AC3E}">
        <p14:creationId xmlns:p14="http://schemas.microsoft.com/office/powerpoint/2010/main" val="137724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600" dirty="0" smtClean="0"/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 smtClean="0"/>
              <a:t>Objectives</a:t>
            </a:r>
            <a:endParaRPr lang="en-US" sz="3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Literature Review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Methodology &amp; Implementation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Results &amp; Discussion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Conclusion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600" dirty="0">
              <a:latin typeface="Arial Rounded MT Bold" panose="020F07040305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3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7348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79354" y="2155946"/>
            <a:ext cx="10276326" cy="3579835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Hierarchical Temporal Memory (HTM) is a biologically inspired machine learning framework 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HTM </a:t>
            </a:r>
            <a:r>
              <a:rPr lang="en-US" dirty="0"/>
              <a:t>offers a robust framework for analyzing and modeling sequential data, emphasizing the dynamic interplay between spatial and temporal patterns. 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Multi-sequence </a:t>
            </a:r>
            <a:r>
              <a:rPr lang="en-US" dirty="0"/>
              <a:t>Learning </a:t>
            </a:r>
            <a:r>
              <a:rPr lang="en-US" dirty="0" smtClean="0"/>
              <a:t>ability gives HTM the power to be applied at </a:t>
            </a:r>
            <a:r>
              <a:rPr lang="en-US" dirty="0"/>
              <a:t>industrial </a:t>
            </a:r>
            <a:r>
              <a:rPr lang="en-US" dirty="0" smtClean="0"/>
              <a:t>level.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At </a:t>
            </a:r>
            <a:r>
              <a:rPr lang="en-US" dirty="0"/>
              <a:t>the core of HTM lies the Spatial Pooler (SP</a:t>
            </a:r>
            <a:r>
              <a:rPr lang="en-US" dirty="0" smtClean="0"/>
              <a:t>), a crucial computational mechanism.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This </a:t>
            </a:r>
            <a:r>
              <a:rPr lang="en-US" dirty="0"/>
              <a:t>transformation process is not merely a mathematical </a:t>
            </a:r>
            <a:r>
              <a:rPr lang="en-US" dirty="0" smtClean="0"/>
              <a:t>construct.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 Spatial Pooler(SP) </a:t>
            </a:r>
            <a:r>
              <a:rPr lang="en-US" dirty="0"/>
              <a:t>enables efficient pattern recognition, memory formation, and information retrieval. 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SP Consumes less memory,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1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This project explores the application of HTM and the Neocortex API </a:t>
            </a:r>
            <a:r>
              <a:rPr lang="en-US" dirty="0" smtClean="0"/>
              <a:t>in Multi-sequence Learning.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In </a:t>
            </a:r>
            <a:r>
              <a:rPr lang="en-US" dirty="0"/>
              <a:t>this project, sequences of tokens are converted into Sparse Distributed Representations (SDRs</a:t>
            </a:r>
            <a:r>
              <a:rPr lang="en-US" dirty="0" smtClean="0"/>
              <a:t>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The SDRs capture the relationships between sequential elements, preserving structural information.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primary goal is to compare the similarity of </a:t>
            </a:r>
            <a:r>
              <a:rPr lang="en-US" dirty="0" smtClean="0"/>
              <a:t>SDRs using embedding-based techniques, specifically cosine and Euclidean similarity functions.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The project follows a structured approach, beginning with tokenization of input sequences using BERT (Bidirectional Encoder Representations from Transformers) tokenizer.</a:t>
            </a:r>
            <a:endParaRPr lang="en-US" sz="3600" dirty="0">
              <a:latin typeface="Arial Rounded MT Bold" panose="020F07040305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3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Literature Review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/>
              <a:t>Hierarchical </a:t>
            </a:r>
            <a:r>
              <a:rPr lang="en-US" b="1" dirty="0"/>
              <a:t>Temporal Memory (HTM)</a:t>
            </a:r>
            <a:endParaRPr lang="en-US" dirty="0"/>
          </a:p>
          <a:p>
            <a:pPr lvl="0"/>
            <a:r>
              <a:rPr lang="en-US" dirty="0"/>
              <a:t>Brain-inspired machine learning model developed by </a:t>
            </a:r>
            <a:r>
              <a:rPr lang="en-US" i="1" dirty="0" err="1"/>
              <a:t>Numenta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Learns and </a:t>
            </a:r>
            <a:r>
              <a:rPr lang="en-US" dirty="0" smtClean="0"/>
              <a:t>predicts </a:t>
            </a:r>
            <a:r>
              <a:rPr lang="en-US" dirty="0"/>
              <a:t>temporal sequences for anomaly detection and forecasting.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Sparse Distributed Representations (SDRs)</a:t>
            </a:r>
            <a:endParaRPr lang="en-US" dirty="0"/>
          </a:p>
          <a:p>
            <a:pPr lvl="0"/>
            <a:r>
              <a:rPr lang="en-US" dirty="0"/>
              <a:t>Sparse binary vectors (~2% active bits) for robust and efficient data encoding.</a:t>
            </a:r>
          </a:p>
          <a:p>
            <a:pPr lvl="0"/>
            <a:r>
              <a:rPr lang="en-US" dirty="0"/>
              <a:t>Provides high noise tolerance and supports associative memory.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Encoders</a:t>
            </a:r>
            <a:endParaRPr lang="en-US" dirty="0"/>
          </a:p>
          <a:p>
            <a:pPr lvl="0"/>
            <a:r>
              <a:rPr lang="en-US" dirty="0"/>
              <a:t>Convert raw data (numbers, text, dates) into SDRs.</a:t>
            </a:r>
          </a:p>
          <a:p>
            <a:pPr lvl="0"/>
            <a:r>
              <a:rPr lang="en-US" dirty="0"/>
              <a:t>Examples: </a:t>
            </a:r>
            <a:r>
              <a:rPr lang="en-US" b="1" dirty="0"/>
              <a:t>Scalar Encoder, Category Encoder, Date/Time Encoder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Literature Review (Con.)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/>
              <a:t>Spatial </a:t>
            </a:r>
            <a:r>
              <a:rPr lang="en-US" b="1" dirty="0"/>
              <a:t>Pooler</a:t>
            </a:r>
            <a:endParaRPr lang="en-US" dirty="0"/>
          </a:p>
          <a:p>
            <a:pPr lvl="0"/>
            <a:r>
              <a:rPr lang="en-US" dirty="0"/>
              <a:t>Converts input data into stable SDRs.</a:t>
            </a:r>
          </a:p>
          <a:p>
            <a:pPr lvl="0"/>
            <a:r>
              <a:rPr lang="en-US" dirty="0"/>
              <a:t>Ensures similar inputs generate similar representations for pattern recognition.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Temporal Memory</a:t>
            </a:r>
            <a:endParaRPr lang="en-US" dirty="0"/>
          </a:p>
          <a:p>
            <a:pPr lvl="0"/>
            <a:r>
              <a:rPr lang="en-US" dirty="0"/>
              <a:t>Learns sequences and makes predictions based on past patterns.</a:t>
            </a:r>
          </a:p>
          <a:p>
            <a:pPr lvl="0"/>
            <a:r>
              <a:rPr lang="en-US" dirty="0"/>
              <a:t>Forms neuron-like connections to store temporal dependencies.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err="1"/>
              <a:t>BertTokenizer</a:t>
            </a:r>
            <a:endParaRPr lang="en-US" dirty="0"/>
          </a:p>
          <a:p>
            <a:pPr lvl="0"/>
            <a:r>
              <a:rPr lang="en-US" dirty="0"/>
              <a:t>Used in </a:t>
            </a:r>
            <a:r>
              <a:rPr lang="en-US" b="1" dirty="0"/>
              <a:t>BERT</a:t>
            </a:r>
            <a:r>
              <a:rPr lang="en-US" dirty="0"/>
              <a:t> for breaking text into </a:t>
            </a:r>
            <a:r>
              <a:rPr lang="en-US" dirty="0" err="1"/>
              <a:t>subwords</a:t>
            </a:r>
            <a:r>
              <a:rPr lang="en-US" dirty="0"/>
              <a:t> (</a:t>
            </a:r>
            <a:r>
              <a:rPr lang="en-US" b="1" dirty="0" err="1"/>
              <a:t>WordPiece</a:t>
            </a:r>
            <a:r>
              <a:rPr lang="en-US" b="1" dirty="0"/>
              <a:t> Tokenization</a:t>
            </a:r>
            <a:r>
              <a:rPr lang="en-US" dirty="0"/>
              <a:t>).</a:t>
            </a:r>
          </a:p>
          <a:p>
            <a:pPr lvl="0"/>
            <a:r>
              <a:rPr lang="en-US" dirty="0"/>
              <a:t>Converts words into numerical IDs for deep learning NLP models.</a:t>
            </a:r>
          </a:p>
          <a:p>
            <a:pPr lvl="0"/>
            <a:endParaRPr 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0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Scalar Encoder based SDR processing: </a:t>
            </a:r>
          </a:p>
          <a:p>
            <a:r>
              <a:rPr lang="en-US" b="1" dirty="0"/>
              <a:t>Workflow</a:t>
            </a:r>
            <a:r>
              <a:rPr lang="en-US" dirty="0"/>
              <a:t>:</a:t>
            </a:r>
          </a:p>
          <a:p>
            <a:r>
              <a:rPr lang="en-US" dirty="0"/>
              <a:t>Convert input text to token-IDs</a:t>
            </a:r>
          </a:p>
          <a:p>
            <a:r>
              <a:rPr lang="en-US" dirty="0"/>
              <a:t>Transform token-IDs into </a:t>
            </a:r>
            <a:r>
              <a:rPr lang="en-US" b="1" dirty="0"/>
              <a:t>Sparse Distributed Representations (SDRs)</a:t>
            </a:r>
            <a:endParaRPr lang="en-US" dirty="0"/>
          </a:p>
          <a:p>
            <a:r>
              <a:rPr lang="en-US" dirty="0"/>
              <a:t>Select text subsequences for comparison</a:t>
            </a:r>
          </a:p>
          <a:p>
            <a:r>
              <a:rPr lang="en-US" dirty="0"/>
              <a:t>Compute </a:t>
            </a:r>
            <a:r>
              <a:rPr lang="en-US" b="1" dirty="0"/>
              <a:t>Cosine &amp; Euclidean Similarity</a:t>
            </a:r>
            <a:endParaRPr lang="en-US" dirty="0"/>
          </a:p>
          <a:p>
            <a:pPr lvl="0"/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1768" y="1862190"/>
            <a:ext cx="2286000" cy="44366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0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(Con.)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T</a:t>
            </a:r>
            <a:r>
              <a:rPr lang="en-US" b="1" dirty="0" smtClean="0"/>
              <a:t>okenization </a:t>
            </a:r>
            <a:r>
              <a:rPr lang="en-US" b="1" dirty="0"/>
              <a:t>(</a:t>
            </a:r>
            <a:r>
              <a:rPr lang="en-US" b="1" dirty="0" err="1"/>
              <a:t>BertTokenizer</a:t>
            </a:r>
            <a:r>
              <a:rPr lang="en-US" b="1" dirty="0"/>
              <a:t>)</a:t>
            </a:r>
          </a:p>
          <a:p>
            <a:pPr marL="0" lvl="0" indent="0">
              <a:buNone/>
            </a:pPr>
            <a:r>
              <a:rPr lang="en-US" dirty="0" smtClean="0"/>
              <a:t>Purpose</a:t>
            </a:r>
            <a:r>
              <a:rPr lang="en-US" dirty="0"/>
              <a:t>: Convert text into manageable units</a:t>
            </a:r>
          </a:p>
          <a:p>
            <a:pPr marL="0" lvl="0" indent="0">
              <a:buNone/>
            </a:pPr>
            <a:r>
              <a:rPr lang="en-US" dirty="0" smtClean="0"/>
              <a:t>Process:</a:t>
            </a:r>
          </a:p>
          <a:p>
            <a:pPr marL="0" lvl="0" indent="0">
              <a:buNone/>
            </a:pPr>
            <a:r>
              <a:rPr lang="en-US" dirty="0" smtClean="0"/>
              <a:t>Uses </a:t>
            </a:r>
            <a:r>
              <a:rPr lang="en-US" dirty="0" err="1"/>
              <a:t>WordPiece</a:t>
            </a:r>
            <a:r>
              <a:rPr lang="en-US" dirty="0"/>
              <a:t> tokenization (</a:t>
            </a:r>
            <a:r>
              <a:rPr lang="en-US" dirty="0" err="1"/>
              <a:t>subwords</a:t>
            </a:r>
            <a:r>
              <a:rPr lang="en-US" dirty="0"/>
              <a:t>, words, word pieces)</a:t>
            </a:r>
          </a:p>
          <a:p>
            <a:pPr marL="0" lvl="0" indent="0">
              <a:buNone/>
            </a:pPr>
            <a:r>
              <a:rPr lang="en-US" dirty="0" smtClean="0"/>
              <a:t>Converts </a:t>
            </a:r>
            <a:r>
              <a:rPr lang="en-US" dirty="0"/>
              <a:t>words to token IDs for NLP </a:t>
            </a:r>
            <a:r>
              <a:rPr lang="en-US" dirty="0" smtClean="0"/>
              <a:t>processing</a:t>
            </a:r>
          </a:p>
          <a:p>
            <a:pPr marL="0" lvl="0" indent="0">
              <a:buNone/>
            </a:pPr>
            <a:endParaRPr lang="en-US" dirty="0" smtClean="0"/>
          </a:p>
          <a:p>
            <a:pPr marL="0" lvl="0" indent="0">
              <a:buNone/>
            </a:pP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4270052"/>
            <a:ext cx="9359326" cy="11940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69969" y="1811126"/>
            <a:ext cx="4099028" cy="2372622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from transformers import </a:t>
            </a:r>
            <a:r>
              <a:rPr lang="en-US" sz="1600" dirty="0" err="1">
                <a:solidFill>
                  <a:schemeClr val="tx1"/>
                </a:solidFill>
              </a:rPr>
              <a:t>BertTokenizer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tokenizer = </a:t>
            </a:r>
            <a:r>
              <a:rPr lang="en-US" sz="1600" dirty="0" err="1">
                <a:solidFill>
                  <a:schemeClr val="tx1"/>
                </a:solidFill>
              </a:rPr>
              <a:t>BertTokenizer.from_pretrained</a:t>
            </a:r>
            <a:r>
              <a:rPr lang="en-US" sz="1600" dirty="0">
                <a:solidFill>
                  <a:schemeClr val="tx1"/>
                </a:solidFill>
              </a:rPr>
              <a:t>("</a:t>
            </a:r>
            <a:r>
              <a:rPr lang="en-US" sz="1600" dirty="0" err="1">
                <a:solidFill>
                  <a:schemeClr val="tx1"/>
                </a:solidFill>
              </a:rPr>
              <a:t>bert</a:t>
            </a:r>
            <a:r>
              <a:rPr lang="en-US" sz="1600" dirty="0">
                <a:solidFill>
                  <a:schemeClr val="tx1"/>
                </a:solidFill>
              </a:rPr>
              <a:t>-base-uncased")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input_text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sys.argv</a:t>
            </a:r>
            <a:r>
              <a:rPr lang="en-US" sz="1600" dirty="0">
                <a:solidFill>
                  <a:schemeClr val="tx1"/>
                </a:solidFill>
              </a:rPr>
              <a:t>[1]</a:t>
            </a:r>
          </a:p>
          <a:p>
            <a:r>
              <a:rPr lang="en-US" sz="1600" dirty="0">
                <a:solidFill>
                  <a:schemeClr val="tx1"/>
                </a:solidFill>
              </a:rPr>
              <a:t>tokens = </a:t>
            </a:r>
            <a:r>
              <a:rPr lang="en-US" sz="1600" dirty="0" err="1">
                <a:solidFill>
                  <a:schemeClr val="tx1"/>
                </a:solidFill>
              </a:rPr>
              <a:t>tokenizer.tokenize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input_text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  <a:p>
            <a:r>
              <a:rPr lang="en-US" sz="1600" dirty="0" err="1">
                <a:solidFill>
                  <a:schemeClr val="tx1"/>
                </a:solidFill>
              </a:rPr>
              <a:t>token_ids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tokenizer.convert_tokens_to_ids</a:t>
            </a:r>
            <a:r>
              <a:rPr lang="en-US" sz="1600" dirty="0">
                <a:solidFill>
                  <a:schemeClr val="tx1"/>
                </a:solidFill>
              </a:rPr>
              <a:t>(tokens</a:t>
            </a:r>
            <a:r>
              <a:rPr lang="en-US" sz="1600" dirty="0" smtClean="0">
                <a:solidFill>
                  <a:schemeClr val="tx1"/>
                </a:solidFill>
              </a:rPr>
              <a:t>)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3627643" y="5536298"/>
            <a:ext cx="393828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Figure 2</a:t>
            </a: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: Conversion of text inputs into token-ids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6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(Con.)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80" y="1845734"/>
            <a:ext cx="6247417" cy="40233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SDR </a:t>
            </a:r>
            <a:r>
              <a:rPr lang="en-US" b="1" dirty="0" smtClean="0"/>
              <a:t>Generation for source-Text using Scalar Encoder: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Each token id is converted into an SDR using the Scaler Encoder. 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An SDR is a high-dimensional binary vector with a fixed number of bits, where a small subset of bits is set to "1" to represent the word</a:t>
            </a:r>
            <a:r>
              <a:rPr lang="en-US" dirty="0" smtClean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SDRs values were saved to a text file and managing SDR data in a dictionary. First, it converts the result array into two string representations, which contains the full SDR binary vector, and </a:t>
            </a:r>
            <a:r>
              <a:rPr lang="en-US" dirty="0" err="1"/>
              <a:t>sdrText</a:t>
            </a:r>
            <a:r>
              <a:rPr lang="en-US" dirty="0"/>
              <a:t>, which stores only the indices of active bits (values equal to 1).</a:t>
            </a:r>
            <a:endParaRPr lang="en-US" b="1" dirty="0" smtClean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453" y="1011981"/>
            <a:ext cx="3053567" cy="4605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8003453" y="5656166"/>
            <a:ext cx="305356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Figure 3: Storing Generated SDRs ( from Scaler Encoder)  for processing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4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(Con.)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28839" y="1897431"/>
            <a:ext cx="6855593" cy="4023360"/>
          </a:xfrm>
        </p:spPr>
        <p:txBody>
          <a:bodyPr>
            <a:noAutofit/>
          </a:bodyPr>
          <a:lstStyle/>
          <a:p>
            <a:pPr algn="just"/>
            <a:r>
              <a:rPr lang="en-US" sz="1800" b="1" dirty="0" smtClean="0"/>
              <a:t>SDR </a:t>
            </a:r>
            <a:r>
              <a:rPr lang="en-US" sz="1800" b="1" dirty="0"/>
              <a:t>Mapping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1800" dirty="0"/>
              <a:t>A second text input (</a:t>
            </a:r>
            <a:r>
              <a:rPr lang="en-GB" sz="1800" dirty="0" err="1"/>
              <a:t>subsequenceText</a:t>
            </a:r>
            <a:r>
              <a:rPr lang="en-GB" sz="1800" dirty="0"/>
              <a:t>), which is a subsequence of the </a:t>
            </a:r>
            <a:r>
              <a:rPr lang="en-GB" sz="1800" dirty="0" err="1"/>
              <a:t>sourceText</a:t>
            </a:r>
            <a:r>
              <a:rPr lang="en-GB" sz="1800" dirty="0"/>
              <a:t>, is tokenized and processed. The SDR values for </a:t>
            </a:r>
            <a:r>
              <a:rPr lang="en-GB" sz="1800" dirty="0" err="1"/>
              <a:t>subsequenceText</a:t>
            </a:r>
            <a:r>
              <a:rPr lang="en-GB" sz="1800" dirty="0"/>
              <a:t> is derived from the stored SDRs of </a:t>
            </a:r>
            <a:r>
              <a:rPr lang="en-GB" sz="1800" dirty="0" err="1"/>
              <a:t>sourceText</a:t>
            </a:r>
            <a:r>
              <a:rPr lang="en-GB" sz="1800" dirty="0" smtClean="0"/>
              <a:t>. Same process is followed for </a:t>
            </a:r>
            <a:r>
              <a:rPr lang="en-GB" sz="1800" dirty="0" err="1" smtClean="0"/>
              <a:t>comparisonText</a:t>
            </a:r>
            <a:r>
              <a:rPr lang="en-GB" sz="1800" dirty="0" smtClean="0"/>
              <a:t> as well.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 smtClean="0"/>
              <a:t>SDR value of </a:t>
            </a:r>
            <a:r>
              <a:rPr lang="en-US" sz="1800" dirty="0"/>
              <a:t>each token id of </a:t>
            </a:r>
            <a:r>
              <a:rPr lang="en-US" sz="1800" dirty="0" err="1"/>
              <a:t>subsequenceText</a:t>
            </a:r>
            <a:r>
              <a:rPr lang="en-US" sz="1800" dirty="0"/>
              <a:t> </a:t>
            </a:r>
            <a:r>
              <a:rPr lang="en-US" sz="1800" dirty="0" smtClean="0"/>
              <a:t> and </a:t>
            </a:r>
            <a:r>
              <a:rPr lang="en-US" sz="1800" dirty="0" err="1" smtClean="0"/>
              <a:t>comparisonText</a:t>
            </a:r>
            <a:r>
              <a:rPr lang="en-US" sz="1800" dirty="0" smtClean="0"/>
              <a:t> are </a:t>
            </a:r>
            <a:r>
              <a:rPr lang="en-US" sz="1800" dirty="0"/>
              <a:t>merged into one single binary vector and </a:t>
            </a:r>
            <a:r>
              <a:rPr lang="en-US" sz="1800" dirty="0" smtClean="0"/>
              <a:t>the </a:t>
            </a:r>
            <a:r>
              <a:rPr lang="en-US" sz="1800" dirty="0" err="1" smtClean="0"/>
              <a:t>shorte</a:t>
            </a:r>
            <a:r>
              <a:rPr lang="en-US" sz="1800" dirty="0" smtClean="0"/>
              <a:t> length vector is padded.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 smtClean="0"/>
              <a:t>This merging and padding </a:t>
            </a:r>
            <a:r>
              <a:rPr lang="en-US" sz="1800" dirty="0"/>
              <a:t>is done so that we can calculate the distance and similarity of this two merged </a:t>
            </a:r>
            <a:r>
              <a:rPr lang="en-US" sz="1800" dirty="0" smtClean="0"/>
              <a:t>arrays properly. </a:t>
            </a:r>
            <a:r>
              <a:rPr lang="x-none" sz="1800" dirty="0"/>
              <a:t>sdrVector1</a:t>
            </a:r>
            <a:r>
              <a:rPr lang="en-US" sz="1800" dirty="0"/>
              <a:t> represents </a:t>
            </a:r>
            <a:r>
              <a:rPr lang="en-US" sz="1800" dirty="0" err="1"/>
              <a:t>subsequenceText</a:t>
            </a:r>
            <a:r>
              <a:rPr lang="en-US" sz="1800" dirty="0"/>
              <a:t> and </a:t>
            </a:r>
            <a:r>
              <a:rPr lang="x-none" sz="1800" dirty="0"/>
              <a:t>sdrVector2</a:t>
            </a:r>
            <a:r>
              <a:rPr lang="en-US" sz="1800" dirty="0"/>
              <a:t> represents </a:t>
            </a:r>
            <a:r>
              <a:rPr lang="en-US" sz="1800" dirty="0" err="1"/>
              <a:t>comparisonText</a:t>
            </a:r>
            <a:r>
              <a:rPr lang="en-US" sz="1800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8013032" y="2149592"/>
            <a:ext cx="3585410" cy="335896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1200" dirty="0">
                <a:latin typeface="Calibri" panose="020F0502020204030204" pitchFamily="34" charset="0"/>
              </a:rPr>
              <a:t>//Retrieve SDRs from the stored data</a:t>
            </a:r>
          </a:p>
          <a:p>
            <a:pPr lvl="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1200" dirty="0">
                <a:latin typeface="Calibri" panose="020F0502020204030204" pitchFamily="34" charset="0"/>
              </a:rPr>
              <a:t>Dictionary&lt;double, </a:t>
            </a:r>
            <a:r>
              <a:rPr lang="en-US" altLang="en-US" sz="1200" dirty="0" err="1">
                <a:latin typeface="Calibri" panose="020F0502020204030204" pitchFamily="34" charset="0"/>
              </a:rPr>
              <a:t>int</a:t>
            </a:r>
            <a:r>
              <a:rPr lang="en-US" altLang="en-US" sz="1200" dirty="0">
                <a:latin typeface="Calibri" panose="020F0502020204030204" pitchFamily="34" charset="0"/>
              </a:rPr>
              <a:t>[]&gt; retrievedSDRs1 = </a:t>
            </a:r>
            <a:r>
              <a:rPr lang="en-US" altLang="en-US" sz="1200" dirty="0" err="1">
                <a:latin typeface="Calibri" panose="020F0502020204030204" pitchFamily="34" charset="0"/>
              </a:rPr>
              <a:t>sdrretrieval.GetSDRsAsVectors</a:t>
            </a:r>
            <a:r>
              <a:rPr lang="en-US" altLang="en-US" sz="1200" dirty="0">
                <a:latin typeface="Calibri" panose="020F0502020204030204" pitchFamily="34" charset="0"/>
              </a:rPr>
              <a:t>(list1</a:t>
            </a:r>
            <a:r>
              <a:rPr lang="en-US" altLang="en-US" sz="1200" dirty="0" smtClean="0">
                <a:latin typeface="Calibri" panose="020F0502020204030204" pitchFamily="34" charset="0"/>
              </a:rPr>
              <a:t>);    </a:t>
            </a:r>
            <a:endParaRPr lang="en-US" altLang="en-US" sz="1200" dirty="0">
              <a:latin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1200" dirty="0">
                <a:latin typeface="Calibri" panose="020F0502020204030204" pitchFamily="34" charset="0"/>
              </a:rPr>
              <a:t>Dictionary&lt;double, </a:t>
            </a:r>
            <a:r>
              <a:rPr lang="en-US" altLang="en-US" sz="1200" dirty="0" err="1">
                <a:latin typeface="Calibri" panose="020F0502020204030204" pitchFamily="34" charset="0"/>
              </a:rPr>
              <a:t>int</a:t>
            </a:r>
            <a:r>
              <a:rPr lang="en-US" altLang="en-US" sz="1200" dirty="0">
                <a:latin typeface="Calibri" panose="020F0502020204030204" pitchFamily="34" charset="0"/>
              </a:rPr>
              <a:t>[]&gt; retrievedSDRs2 = </a:t>
            </a:r>
            <a:r>
              <a:rPr lang="en-US" altLang="en-US" sz="1200" dirty="0" err="1">
                <a:latin typeface="Calibri" panose="020F0502020204030204" pitchFamily="34" charset="0"/>
              </a:rPr>
              <a:t>sdrretrieval.GetSDRsAsVectors</a:t>
            </a:r>
            <a:r>
              <a:rPr lang="en-US" altLang="en-US" sz="1200" dirty="0">
                <a:latin typeface="Calibri" panose="020F0502020204030204" pitchFamily="34" charset="0"/>
              </a:rPr>
              <a:t>(list2</a:t>
            </a:r>
            <a:r>
              <a:rPr lang="en-US" altLang="en-US" sz="1200" dirty="0" smtClean="0">
                <a:latin typeface="Calibri" panose="020F0502020204030204" pitchFamily="34" charset="0"/>
              </a:rPr>
              <a:t>);</a:t>
            </a:r>
            <a:endParaRPr lang="en-US" altLang="en-US" sz="1200" dirty="0">
              <a:latin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1200" dirty="0">
                <a:latin typeface="Calibri" panose="020F0502020204030204" pitchFamily="34" charset="0"/>
              </a:rPr>
              <a:t>// Merge all SDRs into single binary vectors</a:t>
            </a:r>
          </a:p>
          <a:p>
            <a:pPr lvl="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1200" dirty="0" err="1">
                <a:latin typeface="Calibri" panose="020F0502020204030204" pitchFamily="34" charset="0"/>
              </a:rPr>
              <a:t>int</a:t>
            </a:r>
            <a:r>
              <a:rPr lang="en-US" altLang="en-US" sz="1200" dirty="0">
                <a:latin typeface="Calibri" panose="020F0502020204030204" pitchFamily="34" charset="0"/>
              </a:rPr>
              <a:t>[] sdrVector1 = retrievedSDRs1.Values.SelectMany(</a:t>
            </a:r>
            <a:r>
              <a:rPr lang="en-US" altLang="en-US" sz="1200" dirty="0" err="1">
                <a:latin typeface="Calibri" panose="020F0502020204030204" pitchFamily="34" charset="0"/>
              </a:rPr>
              <a:t>sdr</a:t>
            </a:r>
            <a:r>
              <a:rPr lang="en-US" altLang="en-US" sz="1200" dirty="0">
                <a:latin typeface="Calibri" panose="020F0502020204030204" pitchFamily="34" charset="0"/>
              </a:rPr>
              <a:t> =&gt; </a:t>
            </a:r>
            <a:r>
              <a:rPr lang="en-US" altLang="en-US" sz="1200" dirty="0" err="1">
                <a:latin typeface="Calibri" panose="020F0502020204030204" pitchFamily="34" charset="0"/>
              </a:rPr>
              <a:t>sdr</a:t>
            </a:r>
            <a:r>
              <a:rPr lang="en-US" altLang="en-US" sz="1200" dirty="0">
                <a:latin typeface="Calibri" panose="020F0502020204030204" pitchFamily="34" charset="0"/>
              </a:rPr>
              <a:t>).</a:t>
            </a:r>
            <a:r>
              <a:rPr lang="en-US" altLang="en-US" sz="1200" dirty="0" err="1">
                <a:latin typeface="Calibri" panose="020F0502020204030204" pitchFamily="34" charset="0"/>
              </a:rPr>
              <a:t>ToArray</a:t>
            </a:r>
            <a:r>
              <a:rPr lang="en-US" altLang="en-US" sz="1200" dirty="0">
                <a:latin typeface="Calibri" panose="020F0502020204030204" pitchFamily="34" charset="0"/>
              </a:rPr>
              <a:t>();</a:t>
            </a:r>
          </a:p>
          <a:p>
            <a:pPr lvl="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1200" dirty="0" err="1">
                <a:latin typeface="Calibri" panose="020F0502020204030204" pitchFamily="34" charset="0"/>
              </a:rPr>
              <a:t>int</a:t>
            </a:r>
            <a:r>
              <a:rPr lang="en-US" altLang="en-US" sz="1200" dirty="0">
                <a:latin typeface="Calibri" panose="020F0502020204030204" pitchFamily="34" charset="0"/>
              </a:rPr>
              <a:t>[] sdrVector2 = retrievedSDRs2.Values.SelectMany(</a:t>
            </a:r>
            <a:r>
              <a:rPr lang="en-US" altLang="en-US" sz="1200" dirty="0" err="1">
                <a:latin typeface="Calibri" panose="020F0502020204030204" pitchFamily="34" charset="0"/>
              </a:rPr>
              <a:t>sdr</a:t>
            </a:r>
            <a:r>
              <a:rPr lang="en-US" altLang="en-US" sz="1200" dirty="0">
                <a:latin typeface="Calibri" panose="020F0502020204030204" pitchFamily="34" charset="0"/>
              </a:rPr>
              <a:t> =&gt; </a:t>
            </a:r>
            <a:r>
              <a:rPr lang="en-US" altLang="en-US" sz="1200" dirty="0" err="1">
                <a:latin typeface="Calibri" panose="020F0502020204030204" pitchFamily="34" charset="0"/>
              </a:rPr>
              <a:t>sdr</a:t>
            </a:r>
            <a:r>
              <a:rPr lang="en-US" altLang="en-US" sz="1200" dirty="0">
                <a:latin typeface="Calibri" panose="020F0502020204030204" pitchFamily="34" charset="0"/>
              </a:rPr>
              <a:t>).</a:t>
            </a:r>
            <a:r>
              <a:rPr lang="en-US" altLang="en-US" sz="1200" dirty="0" err="1">
                <a:latin typeface="Calibri" panose="020F0502020204030204" pitchFamily="34" charset="0"/>
              </a:rPr>
              <a:t>ToArray</a:t>
            </a:r>
            <a:r>
              <a:rPr lang="en-US" altLang="en-US" sz="1200" dirty="0">
                <a:latin typeface="Calibri" panose="020F0502020204030204" pitchFamily="34" charset="0"/>
              </a:rPr>
              <a:t>();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9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(Con.)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Similarity Computation of Basic SDRs</a:t>
            </a:r>
          </a:p>
          <a:p>
            <a:r>
              <a:rPr lang="en-US" b="1" dirty="0" smtClean="0"/>
              <a:t>Metrics </a:t>
            </a:r>
            <a:r>
              <a:rPr lang="en-US" b="1" dirty="0"/>
              <a:t>Used</a:t>
            </a:r>
            <a:r>
              <a:rPr lang="en-US" dirty="0"/>
              <a:t>:</a:t>
            </a:r>
          </a:p>
          <a:p>
            <a:r>
              <a:rPr lang="en-US" b="1" dirty="0"/>
              <a:t>Cosine Similarity</a:t>
            </a:r>
            <a:r>
              <a:rPr lang="en-US" dirty="0"/>
              <a:t> → Measures angle between SDRs</a:t>
            </a:r>
          </a:p>
          <a:p>
            <a:r>
              <a:rPr lang="en-US" b="1" dirty="0"/>
              <a:t>Euclidean Distance</a:t>
            </a:r>
            <a:r>
              <a:rPr lang="en-US" dirty="0"/>
              <a:t> → Measures spatial closeness</a:t>
            </a:r>
          </a:p>
          <a:p>
            <a:r>
              <a:rPr lang="en-US" b="1" dirty="0" smtClean="0"/>
              <a:t>Pre-processing</a:t>
            </a:r>
            <a:r>
              <a:rPr lang="en-US" dirty="0"/>
              <a:t>:</a:t>
            </a:r>
          </a:p>
          <a:p>
            <a:r>
              <a:rPr lang="en-US" b="1" dirty="0"/>
              <a:t>Vector Padding</a:t>
            </a:r>
            <a:r>
              <a:rPr lang="en-US" dirty="0"/>
              <a:t> → Ensures uniform vector length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7255042" y="1845735"/>
            <a:ext cx="3900638" cy="170358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// Find the maximum length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maxLength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=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Math.Max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(vec1.Length, vec2.Length);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// Pad both vectors to the same length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[] paddedVec1 = vec1.Concat(new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[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maxLength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- vec1.Length]).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ToArray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[] paddedVec2 = vec2.Concat(new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[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maxLength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- vec2.Length]).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ToArray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7255042" y="3657691"/>
            <a:ext cx="3900638" cy="21328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// Compute Euclidean distance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double distance =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Math.Sqrt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(paddedVec1.Zip(paddedVec2, (v1, v2) =&gt; (v1 - v2) * (v1 - v2)).Sum());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// Maximum possible distance (when vectors are completely different)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double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maxDistance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=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Math.Sqrt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(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maxLength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// Convert distance to similarity (higher value means more similarity)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return 1 - (distance /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maxDistance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92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(Con.)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HTM-Based </a:t>
            </a:r>
            <a:r>
              <a:rPr lang="en-US" b="1" dirty="0"/>
              <a:t>SDR Processing</a:t>
            </a:r>
          </a:p>
          <a:p>
            <a:r>
              <a:rPr lang="en-US" b="1" dirty="0" smtClean="0"/>
              <a:t>HTM </a:t>
            </a:r>
            <a:r>
              <a:rPr lang="en-US" b="1" dirty="0"/>
              <a:t>Components</a:t>
            </a:r>
            <a:r>
              <a:rPr lang="en-US" dirty="0"/>
              <a:t>:</a:t>
            </a:r>
          </a:p>
          <a:p>
            <a:r>
              <a:rPr lang="en-US" b="1" dirty="0"/>
              <a:t>Spatial Pooler (SP)</a:t>
            </a:r>
            <a:r>
              <a:rPr lang="en-US" dirty="0"/>
              <a:t> → Extracts stable features</a:t>
            </a:r>
          </a:p>
          <a:p>
            <a:r>
              <a:rPr lang="en-US" b="1" dirty="0"/>
              <a:t>Temporal Memory (TM)</a:t>
            </a:r>
            <a:r>
              <a:rPr lang="en-US" dirty="0"/>
              <a:t> → Learns sequences</a:t>
            </a:r>
          </a:p>
          <a:p>
            <a:r>
              <a:rPr lang="en-US" b="1" dirty="0" smtClean="0"/>
              <a:t>HTM </a:t>
            </a:r>
            <a:r>
              <a:rPr lang="en-US" b="1" dirty="0"/>
              <a:t>Workflow</a:t>
            </a:r>
            <a:r>
              <a:rPr lang="en-US" dirty="0"/>
              <a:t>:</a:t>
            </a:r>
          </a:p>
          <a:p>
            <a:r>
              <a:rPr lang="en-US" dirty="0"/>
              <a:t>Encodes input sequences</a:t>
            </a:r>
          </a:p>
          <a:p>
            <a:r>
              <a:rPr lang="en-US" dirty="0"/>
              <a:t>Processes SDRs using SP &amp; TM</a:t>
            </a:r>
          </a:p>
          <a:p>
            <a:r>
              <a:rPr lang="en-US" dirty="0"/>
              <a:t>Stores final SDR representations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737" y="1389076"/>
            <a:ext cx="3635943" cy="4299544"/>
          </a:xfrm>
          <a:prstGeom prst="rect">
            <a:avLst/>
          </a:prstGeom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885939" y="5692512"/>
            <a:ext cx="290353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Figure 4: Storing Generated SDRs ( from HTM)  for processing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1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(Con.)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80" y="1845734"/>
            <a:ext cx="6326204" cy="3532382"/>
          </a:xfrm>
        </p:spPr>
        <p:txBody>
          <a:bodyPr>
            <a:normAutofit/>
          </a:bodyPr>
          <a:lstStyle/>
          <a:p>
            <a:r>
              <a:rPr lang="en-US" b="1" dirty="0"/>
              <a:t>Merging SDRs for </a:t>
            </a:r>
            <a:r>
              <a:rPr lang="en-US" b="1" dirty="0" smtClean="0"/>
              <a:t>Comparison:</a:t>
            </a: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x-none" dirty="0" smtClean="0"/>
              <a:t>binarySDR1 </a:t>
            </a:r>
            <a:r>
              <a:rPr lang="x-none" dirty="0"/>
              <a:t>and </a:t>
            </a:r>
            <a:r>
              <a:rPr lang="x-none" dirty="0" smtClean="0"/>
              <a:t>binarySDR2</a:t>
            </a:r>
            <a:r>
              <a:rPr lang="en-US" dirty="0" smtClean="0"/>
              <a:t> </a:t>
            </a:r>
            <a:r>
              <a:rPr lang="x-none" dirty="0" smtClean="0"/>
              <a:t>would </a:t>
            </a:r>
            <a:r>
              <a:rPr lang="x-none" dirty="0"/>
              <a:t>store the binary SDRs for two different sequences.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x-none" dirty="0" smtClean="0"/>
              <a:t>retrieves </a:t>
            </a:r>
            <a:r>
              <a:rPr lang="x-none" dirty="0"/>
              <a:t>its stored </a:t>
            </a:r>
            <a:r>
              <a:rPr lang="x-none" b="1" dirty="0"/>
              <a:t>SDR representation</a:t>
            </a:r>
            <a:r>
              <a:rPr lang="x-none" dirty="0"/>
              <a:t> from sdrStorage using LoadSDR(token.ToString()).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x-none" dirty="0" smtClean="0"/>
              <a:t>If </a:t>
            </a:r>
            <a:r>
              <a:rPr lang="x-none" dirty="0"/>
              <a:t>the SDR exists, it contains two primary components:</a:t>
            </a:r>
            <a:endParaRPr lang="en-US" dirty="0"/>
          </a:p>
          <a:p>
            <a:pPr lvl="1"/>
            <a:r>
              <a:rPr lang="x-none" b="1" dirty="0"/>
              <a:t>Column SDR</a:t>
            </a:r>
            <a:r>
              <a:rPr lang="x-none" dirty="0"/>
              <a:t>: </a:t>
            </a:r>
            <a:r>
              <a:rPr lang="en-US" dirty="0" smtClean="0"/>
              <a:t>represents </a:t>
            </a:r>
            <a:r>
              <a:rPr lang="en-US" dirty="0"/>
              <a:t>the active columns in the HTM spatial pooler.</a:t>
            </a:r>
          </a:p>
          <a:p>
            <a:pPr lvl="1"/>
            <a:r>
              <a:rPr lang="x-none" b="1" dirty="0"/>
              <a:t>Cell SDR</a:t>
            </a:r>
            <a:r>
              <a:rPr lang="x-none" dirty="0"/>
              <a:t>: Represents the individual cells within active </a:t>
            </a:r>
            <a:r>
              <a:rPr lang="x-none" dirty="0" smtClean="0"/>
              <a:t>columns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423484" y="1909462"/>
            <a:ext cx="3886200" cy="41303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List&lt;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&gt; tokens1 =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listGeneration.TokenizeText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(text1);</a:t>
            </a: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List&lt;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&gt; binarySDR1 = new List&lt;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&gt;();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// Retrieve stored SDRs for each token and convert to binary SDRs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foreach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(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var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token in tokens1)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var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storedSDR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=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sdrStorage.LoadSDR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(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token.ToString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());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if (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storedSDR.HasValue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    // Convert column SDR to binary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   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[]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columnBinary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=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ConvertToBinarySDR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(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storedSDR.Value.columnSDR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numColumns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    binarySDR1.AddRange(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columnBinary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    // Convert cell SDR to binary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   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[]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cellBinary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=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ConvertToBinarySDR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(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storedSDR.Value.cellSDR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numColumns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* 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numCellsPerColumn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    binarySDR1.AddRange(</a:t>
            </a:r>
            <a:r>
              <a:rPr kumimoji="0" lang="en-US" altLang="en-US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cellBinary</a:t>
            </a: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}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}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5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(Con.)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80" y="1845734"/>
            <a:ext cx="6326204" cy="3532382"/>
          </a:xfrm>
        </p:spPr>
        <p:txBody>
          <a:bodyPr>
            <a:normAutofit/>
          </a:bodyPr>
          <a:lstStyle/>
          <a:p>
            <a:r>
              <a:rPr lang="en-US" b="1" dirty="0" smtClean="0"/>
              <a:t>Converting Merged SDRs </a:t>
            </a:r>
            <a:r>
              <a:rPr lang="en-US" b="1" dirty="0"/>
              <a:t>to Binary </a:t>
            </a:r>
            <a:r>
              <a:rPr lang="en-US" b="1" dirty="0" smtClean="0"/>
              <a:t>Format:</a:t>
            </a:r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The retrieved column SDR is converted to binary format using </a:t>
            </a:r>
            <a:r>
              <a:rPr lang="en-US" dirty="0" err="1"/>
              <a:t>ConvertToBinarySDR</a:t>
            </a:r>
            <a:r>
              <a:rPr lang="en-US" dirty="0"/>
              <a:t>(), ensuring that active columns are represented with 1s in the correct </a:t>
            </a:r>
            <a:r>
              <a:rPr lang="en-US" dirty="0" smtClean="0"/>
              <a:t>positions.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retrieved cell SDR is similarly processed using </a:t>
            </a:r>
            <a:r>
              <a:rPr lang="en-US" dirty="0" err="1"/>
              <a:t>ConvertToBinarySDR</a:t>
            </a:r>
            <a:r>
              <a:rPr lang="en-US" dirty="0"/>
              <a:t>(), mapping active cell locations to a binary </a:t>
            </a:r>
            <a:r>
              <a:rPr lang="en-US" dirty="0" smtClean="0"/>
              <a:t>vector.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generated binary representations are then stored in binarySDR1 and binarySDR2.</a:t>
            </a:r>
          </a:p>
          <a:p>
            <a:endParaRPr lang="en-US" dirty="0"/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7423483" y="1909462"/>
            <a:ext cx="3404937" cy="357702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private static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[]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ConvertToBinarySDR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(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[]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activeIndices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totalSize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[]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binarySDR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= new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[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totalSize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];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foreach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(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index in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activeIndices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   if (index &lt;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totalSize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  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      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binarySDR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[index] = 1;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    }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}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   return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binarySDR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}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3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(Con.)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80" y="1845734"/>
            <a:ext cx="5881036" cy="4023360"/>
          </a:xfrm>
        </p:spPr>
        <p:txBody>
          <a:bodyPr>
            <a:normAutofit/>
          </a:bodyPr>
          <a:lstStyle/>
          <a:p>
            <a:r>
              <a:rPr lang="en-US" b="1" dirty="0"/>
              <a:t>Similarity Computation of HTM </a:t>
            </a:r>
            <a:r>
              <a:rPr lang="en-US" b="1" dirty="0" smtClean="0"/>
              <a:t>SDRs: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We performed similarity comparisons between two binary SDRs </a:t>
            </a:r>
            <a:r>
              <a:rPr lang="en-US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using 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two different metrics: </a:t>
            </a:r>
            <a:r>
              <a:rPr lang="en-US" b="1" dirty="0">
                <a:latin typeface="Times New Roman" panose="02020603050405020304" pitchFamily="18" charset="0"/>
                <a:ea typeface="SimSun" panose="02010600030101010101" pitchFamily="2" charset="-122"/>
              </a:rPr>
              <a:t>cosine similarity and Euclidean similarity.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 First, it checked if both SDRs contain data (non-zero counts), then calculated and displayed both similarity scores. </a:t>
            </a:r>
            <a:endParaRPr lang="en-US" b="1" dirty="0"/>
          </a:p>
          <a:p>
            <a:r>
              <a:rPr lang="en-US" b="1" dirty="0" smtClean="0"/>
              <a:t>Comparison </a:t>
            </a:r>
            <a:r>
              <a:rPr lang="en-US" b="1" dirty="0"/>
              <a:t>Metrics</a:t>
            </a:r>
            <a:r>
              <a:rPr lang="en-US" dirty="0"/>
              <a:t>:</a:t>
            </a:r>
          </a:p>
          <a:p>
            <a:r>
              <a:rPr lang="en-US" b="1" dirty="0"/>
              <a:t>Cosine Similarity</a:t>
            </a:r>
            <a:r>
              <a:rPr lang="en-US" dirty="0"/>
              <a:t> → Measures vector alignment</a:t>
            </a:r>
          </a:p>
          <a:p>
            <a:r>
              <a:rPr lang="en-US" b="1" dirty="0"/>
              <a:t>Euclidean Similarity</a:t>
            </a:r>
            <a:r>
              <a:rPr lang="en-US" dirty="0"/>
              <a:t> → Normalized inverse distance</a:t>
            </a:r>
          </a:p>
          <a:p>
            <a:endParaRPr lang="en-US" dirty="0"/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8032629" y="5659544"/>
            <a:ext cx="29051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Figure 5: Workflow of Calculating Similarity between two subsequence-SDRs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291" y="1133465"/>
            <a:ext cx="3132389" cy="4502956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97280" y="973394"/>
            <a:ext cx="10058400" cy="763966"/>
          </a:xfrm>
        </p:spPr>
        <p:txBody>
          <a:bodyPr/>
          <a:lstStyle/>
          <a:p>
            <a:r>
              <a:rPr lang="en-US" dirty="0"/>
              <a:t>Results &amp; </a:t>
            </a:r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81" y="1845734"/>
            <a:ext cx="4196614" cy="402336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T</a:t>
            </a:r>
            <a:r>
              <a:rPr lang="x-none" dirty="0" smtClean="0"/>
              <a:t>he scalar encoder is designed to process numerical values only, 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x-none" dirty="0" smtClean="0"/>
              <a:t>Assigning token ids to words enables their conversion into sdrs, 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x-none" dirty="0" smtClean="0"/>
              <a:t>Ensuring compatibility with the encoding process</a:t>
            </a:r>
            <a:r>
              <a:rPr lang="en-US" dirty="0" smtClean="0"/>
              <a:t>. 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0242" name="Picture 2" descr="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968" y="1712265"/>
            <a:ext cx="6253058" cy="4265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892046" y="5977468"/>
            <a:ext cx="3677737" cy="2970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82880" algn="ctr">
              <a:lnSpc>
                <a:spcPct val="95000"/>
              </a:lnSpc>
              <a:spcAft>
                <a:spcPts val="600"/>
              </a:spcAft>
              <a:tabLst>
                <a:tab pos="182880" algn="l"/>
              </a:tabLst>
            </a:pPr>
            <a:r>
              <a:rPr lang="en-US" sz="1400" spc="-5" dirty="0">
                <a:latin typeface="Times New Roman" panose="02020603050405020304" pitchFamily="18" charset="0"/>
                <a:ea typeface="SimSun" panose="02010600030101010101" pitchFamily="2" charset="-122"/>
              </a:rPr>
              <a:t>Fig. 6. Tokenized representation of </a:t>
            </a:r>
            <a:r>
              <a:rPr lang="en-US" sz="1400" spc="-5" dirty="0" err="1">
                <a:latin typeface="Times New Roman" panose="02020603050405020304" pitchFamily="18" charset="0"/>
                <a:ea typeface="SimSun" panose="02010600030101010101" pitchFamily="2" charset="-122"/>
              </a:rPr>
              <a:t>sourceText</a:t>
            </a:r>
            <a:endParaRPr lang="en-US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9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Discussion</a:t>
            </a:r>
            <a:r>
              <a:rPr lang="en-US" dirty="0" smtClean="0"/>
              <a:t> (Con.)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1097280" y="2225842"/>
            <a:ext cx="4937760" cy="356492"/>
          </a:xfrm>
        </p:spPr>
        <p:txBody>
          <a:bodyPr>
            <a:normAutofit lnSpcReduction="10000"/>
          </a:bodyPr>
          <a:lstStyle/>
          <a:p>
            <a:r>
              <a:rPr lang="en-US" b="1" i="1" cap="none" dirty="0" smtClean="0"/>
              <a:t>using scaler encoder:</a:t>
            </a:r>
            <a:endParaRPr lang="en-US" cap="none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marR="0" indent="0" algn="just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82880" algn="l"/>
              </a:tabLst>
            </a:pPr>
            <a:r>
              <a:rPr lang="en-US" spc="-5" dirty="0">
                <a:latin typeface="Times New Roman" panose="02020603050405020304" pitchFamily="18" charset="0"/>
                <a:ea typeface="SimSun" panose="02010600030101010101" pitchFamily="2" charset="-122"/>
              </a:rPr>
              <a:t>All the generated Token IDs in the previous step are converted to SDRs using Scalar </a:t>
            </a:r>
            <a:r>
              <a:rPr lang="en-US" spc="-5" dirty="0" err="1">
                <a:latin typeface="Times New Roman" panose="02020603050405020304" pitchFamily="18" charset="0"/>
                <a:ea typeface="SimSun" panose="02010600030101010101" pitchFamily="2" charset="-122"/>
              </a:rPr>
              <a:t>Enocoder</a:t>
            </a:r>
            <a:r>
              <a:rPr lang="en-US" spc="-5" dirty="0">
                <a:latin typeface="Times New Roman" panose="02020603050405020304" pitchFamily="18" charset="0"/>
                <a:ea typeface="SimSun" panose="02010600030101010101" pitchFamily="2" charset="-122"/>
              </a:rPr>
              <a:t>. Also the SDRs are saved to sdr_ouput.txt</a:t>
            </a:r>
            <a:r>
              <a:rPr lang="en-US" spc="-5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</a:p>
          <a:p>
            <a:pPr marL="0" marR="0" indent="0" algn="just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82880" algn="l"/>
              </a:tabLst>
            </a:pPr>
            <a:endParaRPr lang="en-US" spc="-5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"/>
          </p:nvPr>
        </p:nvSpPr>
        <p:spPr>
          <a:xfrm>
            <a:off x="6217920" y="2225842"/>
            <a:ext cx="4937760" cy="356492"/>
          </a:xfrm>
        </p:spPr>
        <p:txBody>
          <a:bodyPr>
            <a:normAutofit lnSpcReduction="10000"/>
          </a:bodyPr>
          <a:lstStyle/>
          <a:p>
            <a:r>
              <a:rPr lang="en-US" b="1" i="1" cap="none" dirty="0"/>
              <a:t>using </a:t>
            </a:r>
            <a:r>
              <a:rPr lang="en-US" b="1" i="1" cap="none" dirty="0" smtClean="0"/>
              <a:t>HTM:</a:t>
            </a:r>
            <a:endParaRPr lang="en-US" cap="none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For Column and Cell SDR generated using cortex layer (SP and TM), it was stored in </a:t>
            </a:r>
            <a:r>
              <a:rPr lang="en-US" dirty="0" err="1">
                <a:latin typeface="Times New Roman" panose="02020603050405020304" pitchFamily="18" charset="0"/>
                <a:ea typeface="SimSun" panose="02010600030101010101" pitchFamily="2" charset="-122"/>
              </a:rPr>
              <a:t>sdr_data.json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 file.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097280" y="1790515"/>
            <a:ext cx="3236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Generated </a:t>
            </a:r>
            <a:r>
              <a:rPr lang="en-US" b="1" i="1" dirty="0" err="1" smtClean="0"/>
              <a:t>sourceText</a:t>
            </a:r>
            <a:r>
              <a:rPr lang="en-US" b="1" i="1" dirty="0" smtClean="0"/>
              <a:t> </a:t>
            </a:r>
            <a:r>
              <a:rPr lang="en-US" b="1" i="1" dirty="0"/>
              <a:t>SDRs: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4957" y="5290115"/>
            <a:ext cx="6096000" cy="2677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182880" algn="ctr">
              <a:lnSpc>
                <a:spcPct val="95000"/>
              </a:lnSpc>
              <a:spcAft>
                <a:spcPts val="600"/>
              </a:spcAft>
              <a:tabLst>
                <a:tab pos="182880" algn="l"/>
              </a:tabLst>
            </a:pPr>
            <a:r>
              <a:rPr lang="en-US" sz="1200" spc="-5" dirty="0">
                <a:latin typeface="Times New Roman" panose="02020603050405020304" pitchFamily="18" charset="0"/>
                <a:ea typeface="SimSun" panose="02010600030101010101" pitchFamily="2" charset="-122"/>
              </a:rPr>
              <a:t>Fig. 7. SDR representation and SDR positions using Scaler Encoder</a:t>
            </a:r>
            <a:endParaRPr lang="en-US" sz="16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11275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954" y="3682849"/>
            <a:ext cx="5110223" cy="1259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6957073" y="5217414"/>
            <a:ext cx="41179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ea typeface="SimSun" panose="02010600030101010101" pitchFamily="2" charset="-122"/>
              </a:rPr>
              <a:t>Fig. 8. Saved Active Column and Cell Indices for each token-Id</a:t>
            </a:r>
            <a:endParaRPr lang="en-US" sz="1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597" y="3682849"/>
            <a:ext cx="3857123" cy="129989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5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97280" y="973394"/>
            <a:ext cx="10058400" cy="763966"/>
          </a:xfrm>
        </p:spPr>
        <p:txBody>
          <a:bodyPr/>
          <a:lstStyle/>
          <a:p>
            <a:r>
              <a:rPr lang="en-US" dirty="0"/>
              <a:t>Results &amp; </a:t>
            </a:r>
            <a:r>
              <a:rPr lang="en-US" dirty="0" smtClean="0"/>
              <a:t>Discussion(Con.)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80" y="1845734"/>
            <a:ext cx="4439919" cy="40233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Both the </a:t>
            </a:r>
            <a:r>
              <a:rPr lang="en-US" dirty="0" err="1"/>
              <a:t>subsequenceText</a:t>
            </a:r>
            <a:r>
              <a:rPr lang="en-US" dirty="0"/>
              <a:t> and </a:t>
            </a:r>
            <a:r>
              <a:rPr lang="en-US" dirty="0" err="1"/>
              <a:t>comparisonText</a:t>
            </a:r>
            <a:r>
              <a:rPr lang="en-US" dirty="0"/>
              <a:t> are taken as input from the user and converted to Token ID using </a:t>
            </a:r>
            <a:r>
              <a:rPr lang="en-US" dirty="0" err="1"/>
              <a:t>BertTokenizer</a:t>
            </a:r>
            <a:r>
              <a:rPr lang="en-US" dirty="0"/>
              <a:t>. Token IDs remain consistent throughout this process. </a:t>
            </a:r>
          </a:p>
          <a:p>
            <a:pPr algn="just"/>
            <a:r>
              <a:rPr lang="en-US" dirty="0"/>
              <a:t>Our code will look for the SDR values of the corresponding Token IDs in the sdr_ouput.txt file (for basic SDRs) and </a:t>
            </a:r>
            <a:r>
              <a:rPr lang="en-US" dirty="0" err="1" smtClean="0"/>
              <a:t>sdr_data.json</a:t>
            </a:r>
            <a:r>
              <a:rPr lang="en-US" dirty="0" smtClean="0"/>
              <a:t> </a:t>
            </a:r>
            <a:r>
              <a:rPr lang="en-US" dirty="0"/>
              <a:t>file (for HTM-SDRs).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2291" name="Picture 3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362" y="1935163"/>
            <a:ext cx="5435827" cy="233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6635075" y="4465003"/>
            <a:ext cx="3951082" cy="2970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82880" algn="ctr">
              <a:lnSpc>
                <a:spcPct val="95000"/>
              </a:lnSpc>
              <a:spcAft>
                <a:spcPts val="600"/>
              </a:spcAft>
              <a:tabLst>
                <a:tab pos="182880" algn="l"/>
              </a:tabLst>
            </a:pPr>
            <a:r>
              <a:rPr lang="en-US" sz="1400" spc="-5" dirty="0">
                <a:latin typeface="Times New Roman" panose="02020603050405020304" pitchFamily="18" charset="0"/>
                <a:ea typeface="SimSun" panose="02010600030101010101" pitchFamily="2" charset="-122"/>
              </a:rPr>
              <a:t>Fig. 9. </a:t>
            </a:r>
            <a:r>
              <a:rPr lang="en-US" sz="1400" spc="-5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Input subsequences converted to token-IDs</a:t>
            </a:r>
            <a:endParaRPr lang="en-US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9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Discussion</a:t>
            </a:r>
            <a:r>
              <a:rPr lang="en-US" dirty="0" smtClean="0"/>
              <a:t> (Con.)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1067918" y="3449676"/>
            <a:ext cx="4937760" cy="356492"/>
          </a:xfrm>
        </p:spPr>
        <p:txBody>
          <a:bodyPr>
            <a:normAutofit lnSpcReduction="10000"/>
          </a:bodyPr>
          <a:lstStyle/>
          <a:p>
            <a:r>
              <a:rPr lang="en-US" b="1" i="1" cap="none" dirty="0" smtClean="0"/>
              <a:t>using scaler encoder:</a:t>
            </a:r>
            <a:endParaRPr lang="en-US" cap="none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1097280" y="2255558"/>
            <a:ext cx="10058400" cy="1098407"/>
          </a:xfrm>
        </p:spPr>
        <p:txBody>
          <a:bodyPr>
            <a:normAutofit/>
          </a:bodyPr>
          <a:lstStyle/>
          <a:p>
            <a:r>
              <a:rPr lang="en-US" dirty="0"/>
              <a:t>Cosine Similarity and Euclidean Distance are computed between the merged SDR vectors. The resulting values usually range between 0 and 1, where higher values indicate greater similarity. But this values are converted to percentage for a better understanding.</a:t>
            </a:r>
          </a:p>
          <a:p>
            <a:pPr marL="0" marR="0" indent="0" algn="just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82880" algn="l"/>
              </a:tabLst>
            </a:pPr>
            <a:endParaRPr lang="en-US" spc="-5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"/>
          </p:nvPr>
        </p:nvSpPr>
        <p:spPr>
          <a:xfrm>
            <a:off x="6217920" y="3326270"/>
            <a:ext cx="4937760" cy="356492"/>
          </a:xfrm>
        </p:spPr>
        <p:txBody>
          <a:bodyPr>
            <a:normAutofit lnSpcReduction="10000"/>
          </a:bodyPr>
          <a:lstStyle/>
          <a:p>
            <a:r>
              <a:rPr lang="en-US" b="1" i="1" cap="none" dirty="0"/>
              <a:t>using </a:t>
            </a:r>
            <a:r>
              <a:rPr lang="en-US" b="1" i="1" cap="none" dirty="0" smtClean="0"/>
              <a:t>HTM:</a:t>
            </a:r>
            <a:endParaRPr lang="en-US" cap="none" dirty="0"/>
          </a:p>
        </p:txBody>
      </p:sp>
      <p:sp>
        <p:nvSpPr>
          <p:cNvPr id="15" name="TextBox 14"/>
          <p:cNvSpPr txBox="1"/>
          <p:nvPr/>
        </p:nvSpPr>
        <p:spPr>
          <a:xfrm>
            <a:off x="1097280" y="1790515"/>
            <a:ext cx="3236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Measuring</a:t>
            </a:r>
            <a:r>
              <a:rPr lang="en-US" b="1" dirty="0"/>
              <a:t> </a:t>
            </a:r>
            <a:r>
              <a:rPr lang="en-US" b="1" i="1" dirty="0"/>
              <a:t>Similarity</a:t>
            </a:r>
            <a:r>
              <a:rPr lang="en-US" b="1" i="1" dirty="0" smtClean="0"/>
              <a:t>: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5799" y="4514893"/>
            <a:ext cx="6096000" cy="2677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182880" algn="ctr">
              <a:lnSpc>
                <a:spcPct val="95000"/>
              </a:lnSpc>
              <a:spcAft>
                <a:spcPts val="600"/>
              </a:spcAft>
              <a:tabLst>
                <a:tab pos="182880" algn="l"/>
              </a:tabLst>
            </a:pPr>
            <a:r>
              <a:rPr lang="en-US" sz="1200" spc="-5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Fig. 10. Similarity Output</a:t>
            </a:r>
            <a:endParaRPr lang="en-US" sz="16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13314" name="Picture 2" descr="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3839165"/>
            <a:ext cx="4908398" cy="60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0" y="3726903"/>
            <a:ext cx="5235791" cy="787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5533857" y="4603361"/>
            <a:ext cx="6096000" cy="2677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182880" algn="ctr">
              <a:lnSpc>
                <a:spcPct val="95000"/>
              </a:lnSpc>
              <a:spcAft>
                <a:spcPts val="600"/>
              </a:spcAft>
              <a:tabLst>
                <a:tab pos="182880" algn="l"/>
              </a:tabLst>
            </a:pPr>
            <a:r>
              <a:rPr lang="en-US" sz="1200" spc="-5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Fig. 11. Similarity Output of Subsequences</a:t>
            </a:r>
            <a:endParaRPr lang="en-US" sz="1600" spc="-5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6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97280" y="973394"/>
            <a:ext cx="10058400" cy="763966"/>
          </a:xfrm>
        </p:spPr>
        <p:txBody>
          <a:bodyPr/>
          <a:lstStyle/>
          <a:p>
            <a:r>
              <a:rPr lang="en-US" dirty="0"/>
              <a:t>Results &amp; </a:t>
            </a:r>
            <a:r>
              <a:rPr lang="en-US" dirty="0" smtClean="0"/>
              <a:t>Discussion(Con.)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algn="just"/>
            <a:r>
              <a:rPr lang="en-US" b="1" dirty="0" smtClean="0"/>
              <a:t>Result Analysis:</a:t>
            </a:r>
          </a:p>
          <a:p>
            <a:pPr lvl="0"/>
            <a:r>
              <a:rPr lang="en-US" b="1" dirty="0"/>
              <a:t>HTM SDR</a:t>
            </a:r>
            <a:r>
              <a:rPr lang="en-US" dirty="0"/>
              <a:t> provide </a:t>
            </a:r>
            <a:r>
              <a:rPr lang="en-US" b="1" dirty="0"/>
              <a:t>more meaningful similarity scores</a:t>
            </a:r>
            <a:r>
              <a:rPr lang="en-US" dirty="0"/>
              <a:t> by capturing temporal patterns, unlike direct SDR comparisons, which rely only on static mappings.</a:t>
            </a:r>
          </a:p>
          <a:p>
            <a:pPr lvl="0"/>
            <a:r>
              <a:rPr lang="en-US" b="1" dirty="0"/>
              <a:t>HTM-processed SDRs</a:t>
            </a:r>
            <a:r>
              <a:rPr lang="en-US" dirty="0"/>
              <a:t> adapt to variations and generalize patterns better, while direct encoding struggles with fixed token representations.</a:t>
            </a:r>
          </a:p>
          <a:p>
            <a:pPr lvl="0"/>
            <a:r>
              <a:rPr lang="en-US" b="1"/>
              <a:t>HTM’s Temporal Memory</a:t>
            </a:r>
            <a:r>
              <a:rPr lang="en-US"/>
              <a:t> enables </a:t>
            </a:r>
            <a:r>
              <a:rPr lang="en-US" b="1"/>
              <a:t>predictive modeling</a:t>
            </a:r>
            <a:r>
              <a:rPr lang="en-US"/>
              <a:t>, capturing complex dependencies in sequences—something direct SDRs lack, as they treat tokens independently.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5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483" y="126532"/>
            <a:ext cx="2036543" cy="84686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97280" y="973394"/>
            <a:ext cx="10058400" cy="763966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80" y="1845734"/>
            <a:ext cx="9735820" cy="3297766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dirty="0"/>
              <a:t>This study explored </a:t>
            </a:r>
            <a:r>
              <a:rPr lang="en-US" dirty="0" smtClean="0"/>
              <a:t>the capability of HTM using Neocortex API to find out semantic similarity, While </a:t>
            </a:r>
            <a:r>
              <a:rPr lang="en-US" dirty="0"/>
              <a:t>SDRs effectively captured patterns, learning was limited by short iteration cycles. Future work should focus on 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dirty="0" smtClean="0"/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Compute </a:t>
            </a:r>
            <a:r>
              <a:rPr lang="en-US" dirty="0"/>
              <a:t>Cosine &amp; Euclidean Similarity on 1536-dimensional vectors to assess high-dimensional </a:t>
            </a:r>
            <a:r>
              <a:rPr lang="en-US" dirty="0" smtClean="0"/>
              <a:t>representations.</a:t>
            </a:r>
            <a:endParaRPr lang="en-US" dirty="0"/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Analyze </a:t>
            </a:r>
            <a:r>
              <a:rPr lang="en-US" dirty="0"/>
              <a:t>individual dimensions to determine if certain dimensions contribute more to similarity than </a:t>
            </a:r>
            <a:r>
              <a:rPr lang="en-US" dirty="0" smtClean="0"/>
              <a:t>others.</a:t>
            </a:r>
            <a:endParaRPr lang="en-US" dirty="0"/>
          </a:p>
          <a:p>
            <a:pPr lvl="1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Compare </a:t>
            </a:r>
            <a:r>
              <a:rPr lang="en-US" dirty="0"/>
              <a:t>scalar values across dimensions to identify potential biases in similarity measurements</a:t>
            </a:r>
            <a:r>
              <a:rPr lang="en-US" dirty="0" smtClean="0"/>
              <a:t>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dirty="0" smtClean="0"/>
              <a:t>By </a:t>
            </a:r>
            <a:r>
              <a:rPr lang="en-US" dirty="0"/>
              <a:t>integrating these improvements, we can enhance the accuracy and robustness of HTM-based models, leading to deeper insights into sequence relationships and more reliable real-world applications.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4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7780" y="2102703"/>
            <a:ext cx="10058400" cy="1758097"/>
          </a:xfr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6600" dirty="0" smtClean="0"/>
              <a:t>THANK YOU </a:t>
            </a:r>
            <a:endParaRPr lang="en-US" sz="6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B430B-044A-4F01-892B-B3C7D1FF43B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2682</TotalTime>
  <Words>1788</Words>
  <Application>Microsoft Office PowerPoint</Application>
  <PresentationFormat>Widescreen</PresentationFormat>
  <Paragraphs>217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SimSun</vt:lpstr>
      <vt:lpstr>Arial</vt:lpstr>
      <vt:lpstr>Arial Rounded MT Bold</vt:lpstr>
      <vt:lpstr>Calibri</vt:lpstr>
      <vt:lpstr>Calibri Light</vt:lpstr>
      <vt:lpstr>Times New Roman</vt:lpstr>
      <vt:lpstr>Wingdings</vt:lpstr>
      <vt:lpstr>Retrospect</vt:lpstr>
      <vt:lpstr>ML 24/25-07 Extract and Evaluate Embeddings from SDR</vt:lpstr>
      <vt:lpstr>Table of Contents</vt:lpstr>
      <vt:lpstr>Introduction</vt:lpstr>
      <vt:lpstr>Objectives</vt:lpstr>
      <vt:lpstr>Literature Review</vt:lpstr>
      <vt:lpstr>Literature Review (Con.)</vt:lpstr>
      <vt:lpstr>Methodology</vt:lpstr>
      <vt:lpstr>Methodology (Con.)</vt:lpstr>
      <vt:lpstr>Methodology (Con.)</vt:lpstr>
      <vt:lpstr>Methodology (Con.)</vt:lpstr>
      <vt:lpstr>Methodology (Con.)</vt:lpstr>
      <vt:lpstr>Methodology (Con.)</vt:lpstr>
      <vt:lpstr>Methodology (Con.)</vt:lpstr>
      <vt:lpstr>Methodology (Con.)</vt:lpstr>
      <vt:lpstr>Methodology (Con.)</vt:lpstr>
      <vt:lpstr>Results &amp; Discussion</vt:lpstr>
      <vt:lpstr>Results &amp; Discussion (Con.)</vt:lpstr>
      <vt:lpstr>Results &amp; Discussion(Con.)</vt:lpstr>
      <vt:lpstr>Results &amp; Discussion (Con.)</vt:lpstr>
      <vt:lpstr>Results &amp; Discussion(Con.)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Shovon</dc:creator>
  <cp:lastModifiedBy>Shovon</cp:lastModifiedBy>
  <cp:revision>51</cp:revision>
  <dcterms:created xsi:type="dcterms:W3CDTF">2025-03-25T20:05:31Z</dcterms:created>
  <dcterms:modified xsi:type="dcterms:W3CDTF">2025-03-28T00:54:30Z</dcterms:modified>
</cp:coreProperties>
</file>